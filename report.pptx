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783259"/>
            <a:ext cx="10492740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Системный подход к документированию автоматизированных систем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3893641"/>
            <a:ext cx="104927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7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АО «ДОМ.РФ»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4388941"/>
            <a:ext cx="104927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архитектуры как точка конвергенции сведений</a:t>
            </a:r>
            <a:endParaRPr lang="en-US" sz="2100" dirty="0"/>
          </a:p>
        </p:txBody>
      </p:sp>
      <p:pic>
        <p:nvPicPr>
          <p:cNvPr id="6" name="Image 0" descr="/tmp/html2pptx-v4VuUp/html2pptx-bg-1777490009151-def072672a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2758" y="5524500"/>
            <a:ext cx="1556742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Повестка дня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60 минут: доклад и дискуссия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Риски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3 мин.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560909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Управление рисками ИТ-проектов через призму документирования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872258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Некоторые аспекты разработации документации АС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7 мин.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41875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 формальной обязанности к стратегическому активу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730103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Конвергенция сведений в Описании архитектуры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10 мин.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041452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Единая точка истины для всех аспектов системы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352800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Практический пример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15 мин.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3664148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архитектуры условной АС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62000" y="3975497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Оценка полезности и дискуссия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25 мин.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62000" y="428684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Применимость подхода в контексте ЕИСЖС</a:t>
            </a:r>
            <a:endParaRPr lang="en-US" sz="1425" dirty="0"/>
          </a:p>
        </p:txBody>
      </p:sp>
      <p:pic>
        <p:nvPicPr>
          <p:cNvPr id="15" name="Image 0" descr="/tmp/html2pptx-DA1ryH/html2pptx-bg-1777490009601-9bf1370e774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215753"/>
            <a:ext cx="4800600" cy="3199656"/>
          </a:xfrm>
          <a:prstGeom prst="rect">
            <a:avLst/>
          </a:prstGeom>
        </p:spPr>
      </p:pic>
      <p:pic>
        <p:nvPicPr>
          <p:cNvPr id="16" name="Image 1" descr="/tmp/html2pptx-DA1ryH/html2pptx-bg-1777490009671-374b03392f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38950" y="2225278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63002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38950" y="5405884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4847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Управление рисками ИТ-проекта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— не бюрократия, а инструмент снижения рисков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Согласно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Методике оценки рисков реализации инновационных проектов АО «ДОМ.РФ»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и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Методике самооценки рисков и контролей в ЕИСЖС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управление рисками ИТ-проекта включает четыре ключевых этапа: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2266355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Управление рисками проектов и рисками применения результатов — критический элемент успеха ИТ-проекта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841427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Реестр типовых областей рисков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3189982"/>
            <a:ext cx="5715000" cy="203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Технические риски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выбор технологий, архитектурные решения, техдолг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Внешние риски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регуляторные изменения, импортозамещение, смена статуса АС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Организационные риски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волатильность персонала, передача оператору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Риски управления проектом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сроки, бюджет, качество поставки</a:t>
            </a:r>
            <a:endParaRPr lang="en-US" sz="1425" dirty="0"/>
          </a:p>
        </p:txBody>
      </p:sp>
      <p:pic>
        <p:nvPicPr>
          <p:cNvPr id="9" name="Image 0" descr="/tmp/html2pptx-JC1lbG/html2pptx-bg-1777490010107-2df6526f001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215753"/>
            <a:ext cx="4800600" cy="3199656"/>
          </a:xfrm>
          <a:prstGeom prst="rect">
            <a:avLst/>
          </a:prstGeom>
        </p:spPr>
      </p:pic>
      <p:pic>
        <p:nvPicPr>
          <p:cNvPr id="10" name="Image 1" descr="/tmp/html2pptx-JC1lbG/html2pptx-bg-1777490010186-eac352f7e87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38950" y="2225278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63002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38950" y="5405884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4847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Почему документация критически важна?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Сохранение знаний в условиях неопределенности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Структурирование, систематизация и непрерывная актуализация сведений по автоматизированной системе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единственный гарантированный способ сохранить все знания о системе.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2294930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Вызовы, требующие документирования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643485"/>
            <a:ext cx="5715000" cy="2306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Волатильность персонала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уход ключевых специалистов приводит к потере знаний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Организационные изменения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реструктуризация, смена команд, передача другому оператору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Импортозамещение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необходимость быстро понять архитектуру для замены компонентов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Техногенные аварии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восстановление системы в установленное RTO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Смена статуса АС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переход из коммерческой системы в ГИС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5026521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Поддержание документов в актуальном состоянии критически важно для снижения рисков и успешной эксплуатации</a:t>
            </a:r>
            <a:endParaRPr lang="en-US" sz="1425" dirty="0"/>
          </a:p>
        </p:txBody>
      </p:sp>
      <p:pic>
        <p:nvPicPr>
          <p:cNvPr id="9" name="Image 0" descr="/tmp/html2pptx-Vy6bki/html2pptx-bg-1777490010582-1e8158c595e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377529"/>
            <a:ext cx="4800600" cy="2876252"/>
          </a:xfrm>
          <a:prstGeom prst="rect">
            <a:avLst/>
          </a:prstGeom>
        </p:spPr>
      </p:pic>
      <p:pic>
        <p:nvPicPr>
          <p:cNvPr id="10" name="Image 1" descr="/tmp/html2pptx-Vy6bki/html2pptx-bg-1777490010654-49ae6c9493d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38950" y="2387054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630025" y="2377529"/>
            <a:ext cx="0" cy="2876252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38950" y="5244257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48475" y="2377529"/>
            <a:ext cx="0" cy="2876252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Проблема: субъективность критериев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Кто определяет необходимость и достаточность сведений?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Риторический вопрос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Какие существуют критерии необходимости и достаточности сведений по информационной системе?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Распространенные подходы: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249388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Наитие технического писателя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Экспертное мнение технического лидера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Мнение специалистов КА и/или ИБ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Пожелания владельца продукта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447157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Проблема очевидна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2000" y="3795713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Субъективное мнение = высокие нефинансовые риски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10706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Это очень важный момент: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«кто»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и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«чем»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определяет структуру содержания, полноту сведений?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4418409"/>
            <a:ext cx="1107567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Такое решение — это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одновременно ответственность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и решение всем нефинансовым рискам, связанным с уровнем документирования. Не меньшая ответственность на специалистах, которые согласились с этим составом сведений и контролируют процесс актуализации.</a:t>
            </a:r>
            <a:endParaRPr lang="en-US" sz="1425" dirty="0"/>
          </a:p>
        </p:txBody>
      </p:sp>
      <p:pic>
        <p:nvPicPr>
          <p:cNvPr id="13" name="Image 0" descr="/tmp/html2pptx-h27n4s/html2pptx-bg-1777490011045-cfcdfd07177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Решение: стандарты как объективный критерий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34.* — Комплекс стандартов на автоматизированные системы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единообразия существуют стандарты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которые исключают субъективность и обеспечивают полноту сведений.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796058"/>
            <a:ext cx="582930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 «скучными» структурой и содержанием ГОСТов скрывается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глубочайший практический смысл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необходимость и достаточность сведений, а также их актуальность — это вопрос успешности развития автоматизированной системы.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812852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Полное игнорирование стандартов документирования — скорее «минус», чем «плюс»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3387923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Основные серии стандартов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2000" y="3736479"/>
            <a:ext cx="5715000" cy="1798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19.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— ЕСПД (Единая система программной документации)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2.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— ЕСКД (Единая система конструкторской документации)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— Комплекс стандартов на автоматизированные системы ✓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24.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— Система технической документации на АСУ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5611118"/>
            <a:ext cx="582930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34.201—2020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задает структуру документации, которая охватывает все аспекты создания, развития и эксплуатации автоматизированной системы.</a:t>
            </a:r>
            <a:endParaRPr lang="en-US" sz="1425" dirty="0"/>
          </a:p>
        </p:txBody>
      </p:sp>
      <p:pic>
        <p:nvPicPr>
          <p:cNvPr id="11" name="Image 0" descr="/tmp/html2pptx-uJKWxn/html2pptx-bg-1777490011448-747ad4a587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415927"/>
            <a:ext cx="4800600" cy="2799457"/>
          </a:xfrm>
          <a:prstGeom prst="rect">
            <a:avLst/>
          </a:prstGeom>
        </p:spPr>
      </p:pic>
      <p:pic>
        <p:nvPicPr>
          <p:cNvPr id="12" name="Image 1" descr="/tmp/html2pptx-uJKWxn/html2pptx-bg-1777490011520-0c4aa126da5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38950" y="2425452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630025" y="2415927"/>
            <a:ext cx="0" cy="2799457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38950" y="5205859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48475" y="2415927"/>
            <a:ext cx="0" cy="2799457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Структура документации по ГОСТ 34.*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Три уровня проектной и рабочей документации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34.201—2020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определяет три основные группы документов, каждая из которых решает конкретные практические задачи.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824633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Практическая польза каждого уровня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173188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Эскизный проект (ЭП)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484537"/>
            <a:ext cx="5715000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Предварительные проектные решения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Общая структура системы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Польза: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Новый разработчик за день поймёт логику проекта, не отвлекая команду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615630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Технический проект (ТП)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926979"/>
            <a:ext cx="57150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Архитектурные решения с обоснованием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Причины выбора технологий, СУБД, микроархитектуры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Польза: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Понятна причина каждого решения, снижается техдолг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822924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Рабочая документация (РД)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5134273"/>
            <a:ext cx="5715000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Руководства пользователя и администратора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базы данных, план DRP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Польза: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Администратор поднимет систему в установленное RTO</a:t>
            </a:r>
            <a:endParaRPr lang="en-US" sz="1425" dirty="0"/>
          </a:p>
        </p:txBody>
      </p:sp>
      <p:pic>
        <p:nvPicPr>
          <p:cNvPr id="13" name="Image 0" descr="/tmp/html2pptx-H7HgVJ/html2pptx-bg-1777490011918-6e73359c438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015728"/>
            <a:ext cx="4800600" cy="3599855"/>
          </a:xfrm>
          <a:prstGeom prst="rect">
            <a:avLst/>
          </a:prstGeom>
        </p:spPr>
      </p:pic>
      <p:pic>
        <p:nvPicPr>
          <p:cNvPr id="14" name="Image 1" descr="/tmp/html2pptx-H7HgVJ/html2pptx-bg-1777490012004-133be409f94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38950" y="2025253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630025" y="2015728"/>
            <a:ext cx="0" cy="3599855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38950" y="5606058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48475" y="2015728"/>
            <a:ext cx="0" cy="3599855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Содержание документации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Р 59795-2021 — ориентир по содержанию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110756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Р 59795-2021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один из важнейших стандартов, заменивший устаревший РД 50-34.698-90. Он является основным документом, описывающим требования к содержанию практически всех проектных и рабочих документов.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824633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Ключевое преимущество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173188"/>
            <a:ext cx="110756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Если вы хотите понять, что именно должно быть в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«Описании программного обеспечения»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или в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«Руководстве администратора»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вы открываете этот стандарт.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71968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Он даёт чёткую структуру и перечень разделов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что: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031034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Исключает разночтения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Помогает не пропустить важные детали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Обеспечивает единообразие документации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Создаёт объективные критерии полноты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228802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Полный комплект документации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577358"/>
            <a:ext cx="110756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Через анализ ГОСТ 34.201—2020 и ГОСТ Р 59795-2021 можно получить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примерный свод документов/артефактов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включая документы по защите информации.</a:t>
            </a:r>
            <a:endParaRPr lang="en-US" sz="1425" dirty="0"/>
          </a:p>
        </p:txBody>
      </p:sp>
      <p:pic>
        <p:nvPicPr>
          <p:cNvPr id="12" name="Image 0" descr="/tmp/html2pptx-odmjK9/html2pptx-bg-1777490012388-9d814a6fa85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Жизненный цикл системы и документация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как основа успешного развития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Три подхода к использованию ГОСТ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Формальное соблюдение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Документы создаются для галочки, быстро устаревают, никто ими не пользуется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484537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Деньги потрачены зря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79588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Избирательное применение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107234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Выбираются только те документы, которые реально нужны проекту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418582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Риск пропустить важные аспекты, но экономия ресурсов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3729930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Осознанное применение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✓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62000" y="4041279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рассматривается как инвестиция в будущее системы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62000" y="4587776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Актуальная, полезная, востребованная командой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62000" y="4899124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Наша цель — третий подход: документация как стратегический актив</a:t>
            </a:r>
            <a:endParaRPr lang="en-US" sz="1425" dirty="0"/>
          </a:p>
        </p:txBody>
      </p:sp>
      <p:pic>
        <p:nvPicPr>
          <p:cNvPr id="16" name="Image 0" descr="/tmp/html2pptx-cfNcnx/html2pptx-bg-1777490012799-a964c799865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957215"/>
            <a:ext cx="4800600" cy="1716881"/>
          </a:xfrm>
          <a:prstGeom prst="rect">
            <a:avLst/>
          </a:prstGeom>
        </p:spPr>
      </p:pic>
      <p:pic>
        <p:nvPicPr>
          <p:cNvPr id="17" name="Image 1" descr="/tmp/html2pptx-cfNcnx/html2pptx-bg-1777490012868-97c16ed892d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38950" y="2966740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630025" y="2957215"/>
            <a:ext cx="0" cy="1716881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38950" y="4664571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48475" y="2957215"/>
            <a:ext cx="0" cy="1716881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архитектуры: точка конвергенции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Консолидация сведений о системе в едином документе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582930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архитектуры (ОА)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ключевой документ, объединяющий различные аспекты автоматизированной системы в единую целостную картину.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2059781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Преимущества единого документа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408337"/>
            <a:ext cx="5715000" cy="207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Единая точка истины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все сведения о системе в одном месте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дублирования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информация не размазана по десяткам документов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Облегчение актуализации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изменения вносятся в одно место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Ускорение погружения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новый специалист получает полную картину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Основа для принятия решений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архитектурные решения документированы и обоснованы</a:t>
            </a:r>
            <a:endParaRPr lang="en-US" sz="1425" dirty="0"/>
          </a:p>
        </p:txBody>
      </p:sp>
      <p:pic>
        <p:nvPicPr>
          <p:cNvPr id="8" name="Image 0" descr="/tmp/html2pptx-uOgBO3/html2pptx-bg-1777490013246-70cc56f024a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100560"/>
            <a:ext cx="4800600" cy="3430042"/>
          </a:xfrm>
          <a:prstGeom prst="rect">
            <a:avLst/>
          </a:prstGeom>
        </p:spPr>
      </p:pic>
      <p:pic>
        <p:nvPicPr>
          <p:cNvPr id="9" name="Image 1" descr="/tmp/html2pptx-uOgBO3/html2pptx-bg-1777490013338-70d91ec9fcc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38950" y="2110085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630025" y="2100560"/>
            <a:ext cx="0" cy="3430042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38950" y="5521077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48475" y="2100560"/>
            <a:ext cx="0" cy="3430042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Компоненты Описания архитектуры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 ключевых разделов для полноты картины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Прикладная архитектура и интеграционный контур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Бизнес-компоненты, функциональная структура, взаимодействие с внешними системами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66615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Технологический дизайн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231517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Выбор технологий, обоснование решений, технологический стек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65509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Масштабируемость, доступность, сохранность данных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2000" y="300364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SLA, стратегии масштабирования, репликация, резервное копирование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343573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Кластер и ресурсы для размещения АС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3692128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Инфраструктура, серверы, виртуальные машины, контейнеры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62000" y="4032052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Прикладное и специальное программное обеспечение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62000" y="4380607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Используемое ПО, версии, зависимости</a:t>
            </a:r>
            <a:endParaRPr lang="en-US" sz="1425" dirty="0"/>
          </a:p>
        </p:txBody>
      </p:sp>
      <p:pic>
        <p:nvPicPr>
          <p:cNvPr id="15" name="Image 0" descr="/tmp/html2pptx-A2Gjmh/html2pptx-bg-1777490013746-4861e7706fd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Компоненты Описания архитектуры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0114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6. Среды разработки и языки программирования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13599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Инструменты разработки, языки, фреймворки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699915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7. Публикация системы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04847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Процесс развертывания, CI/CD, артефакты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38839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8. DNS записи для публикации в Интернет и ЕТКС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2000" y="273694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Сетевая конфигурация, доменные имена, сертификаты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076873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9. Лицензии (результаты интеллектуальной деятельности)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3425428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Лицензии на ПО, open source компоненты, правовой статус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3765352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10. Защита информации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2000" y="4113907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Средства защиты, меры безопасности, соответствие требованиям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62000" y="442525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Каждый раздел основан на требованиях ГОСТ и отраслевых стандартах</a:t>
            </a:r>
            <a:endParaRPr lang="en-US" sz="1425" dirty="0"/>
          </a:p>
        </p:txBody>
      </p:sp>
      <p:pic>
        <p:nvPicPr>
          <p:cNvPr id="15" name="Image 0" descr="/tmp/html2pptx-Pe0UI1/html2pptx-bg-1777490014115-0497a2acd0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Прикладная архитектура и интеграции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Понимание бизнес-логики и внешних взаимодействий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Ключевые элементы раздела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Функциональная архитектура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57150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Бизнес-компоненты и их ответственность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Основные потоки данных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Логическая структура приложения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Интеграционный контур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5715000" cy="1328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Внешние системы и протоколы взаимодействия (REST, SOAP, очереди)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ГИС ЖКХ, ФГИС ЦС, ЕСИА, СМЭВ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Синхронные и асинхронные интеграции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Обработка ошибок и повторные попытки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549676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Практическая польза: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Команда понимает границы системы и точки интеграции</a:t>
            </a:r>
            <a:endParaRPr lang="en-US" sz="1425" dirty="0"/>
          </a:p>
        </p:txBody>
      </p:sp>
      <p:pic>
        <p:nvPicPr>
          <p:cNvPr id="11" name="Image 0" descr="/tmp/html2pptx-T2EKmB/html2pptx-bg-1777490014481-f10d1e6301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215753"/>
            <a:ext cx="4800600" cy="3199656"/>
          </a:xfrm>
          <a:prstGeom prst="rect">
            <a:avLst/>
          </a:prstGeom>
        </p:spPr>
      </p:pic>
      <p:pic>
        <p:nvPicPr>
          <p:cNvPr id="12" name="Image 1" descr="/tmp/html2pptx-T2EKmB/html2pptx-bg-1777490014572-f5cc50455a6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38950" y="2225278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63002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38950" y="5405884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4847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Технология и инфраструктура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Технологический стек и инфраструктурные решения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Технологический дизайн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Обоснование выбора технологий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Почему выбрана конкретная СУБД (PostgreSQL, MongoDB)?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Причины использования определенного фреймворка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Анализ альтернатив и аргументация решения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Технологический стек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Backend: языки программирования, фреймворки, библиотеки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Frontend: JavaScript/TypeScript фреймворки, UI библиотеки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Инфраструктура: контейнеризация, оркестрация, мониторинг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06985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Кластер и ресурсы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41840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Инфраструктура размещения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4729758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Физические серверы / виртуальные машины / контейнеры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кластеры, namespace, ресурсные квоты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Системы хранения данных (SAN, NAS, object storage)</a:t>
            </a:r>
            <a:endParaRPr lang="en-US" sz="1425" dirty="0"/>
          </a:p>
        </p:txBody>
      </p:sp>
      <p:pic>
        <p:nvPicPr>
          <p:cNvPr id="13" name="Image 0" descr="/tmp/html2pptx-uHMoHC/html2pptx-bg-1777490014999-ecb3e75e6e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Масштабируемость и отказоустойчивость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Обеспечение доступности и сохранности данных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Ключевые метрики и стратегии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SLA и целевые показатели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Доступность системы (uptime 99.9%, 99.99%)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RTO (Recovery Time Objective) — целевое время восстановления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RPO (Recovery Point Objective) — допустимая потеря данных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Масштабируемость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Горизонтальное масштабирование (scale-out): добавление инстансов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Вертикальное масштабирование (scale-up): увеличение ресурсов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Автомасштабирование на основе метрик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04127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Отказоустойчивость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352627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Репликация баз данных (master-slave, multi-master)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Балансировка нагрузки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Резервное копирование: полное, инкрементное, дифференциальное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План аварийного восстановления (DRP)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552182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Практическая польза: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При инциденте администратор действует по плану, система восстанавливается в RTO</a:t>
            </a:r>
            <a:endParaRPr lang="en-US" sz="1425" dirty="0"/>
          </a:p>
        </p:txBody>
      </p:sp>
      <p:pic>
        <p:nvPicPr>
          <p:cNvPr id="13" name="Image 0" descr="/tmp/html2pptx-cznJ9o/html2pptx-bg-1777490015376-dab15f54265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Защита информации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Комплексный подход к информационной безопасности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Разделы по ИБ в Описании архитектуры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Перечень средств защиты информации (СЗИ)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Межсетевые экраны, антивирусы, SIEM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Средства криптографической защиты (СКЗИ)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Системы контроля доступа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Меры защиты информации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Организационные меры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Технические меры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Процедуры реагирования на инциденты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04127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Соответствие требованиям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352627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ФСТЭК России, ФСБ России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Федеральный закон № 152-ФЗ «О персональных данных»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Отраслевые стандарты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5248573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Важно: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Описание архитектуры является основой для разработки детальной документации по защите информации</a:t>
            </a:r>
            <a:endParaRPr lang="en-US" sz="1425" dirty="0"/>
          </a:p>
        </p:txBody>
      </p:sp>
      <p:pic>
        <p:nvPicPr>
          <p:cNvPr id="13" name="Image 0" descr="/tmp/html2pptx-pKmjVn/html2pptx-bg-1777490015749-cb0ca9994d7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по защите информации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Полный комплект документов для обеспечения ИБ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Основные группы документов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Проектная документация на СЗИ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57150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Частное техническое задание на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Пояснительная записка к техническому проекту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Обоснование проектных решений по ИБ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Эксплуатационная документация на СЗИ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57150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Руководство администратора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Руководство пользователя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Инструкция по эксплуатации комплекса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Технический паспорт ИС</a:t>
            </a:r>
            <a:endParaRPr lang="en-US" sz="1425" dirty="0"/>
          </a:p>
        </p:txBody>
      </p:sp>
      <p:pic>
        <p:nvPicPr>
          <p:cNvPr id="10" name="Image 0" descr="/tmp/html2pptx-ZCElwQ/html2pptx-bg-1777490016125-a097a50c06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1815554"/>
            <a:ext cx="4800600" cy="4000054"/>
          </a:xfrm>
          <a:prstGeom prst="rect">
            <a:avLst/>
          </a:prstGeom>
        </p:spPr>
      </p:pic>
      <p:pic>
        <p:nvPicPr>
          <p:cNvPr id="11" name="Image 1" descr="/tmp/html2pptx-ZCElwQ/html2pptx-bg-1777490016206-b651df0158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38950" y="1825079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630025" y="1815554"/>
            <a:ext cx="0" cy="4000054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38950" y="5806083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48475" y="1815554"/>
            <a:ext cx="0" cy="4000054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по защите информации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0114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Дополнительные документы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13599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Организационно-распорядительная документация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671340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Приказы о назначении ответственных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Инструкции по работе с конфиденциальной информацией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Перечень сведений, составляющих тайну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Политики информационной безопасности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840534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Анализ и юридическое оформление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3151882"/>
            <a:ext cx="10858500" cy="13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Отчет по анализу исходного кода на уязвимости (SAST/DAST)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Товарная накладная (ТОРГ-12) на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Акт приема-передачи неисключительных прав на СЗИ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Акт установки СЗИ и СКЗИ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Сертификаты соответствия ФСТЭК/ФСБ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4594324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технологического процесса обработки информации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с точки зрения безопасности на каждом этапе</a:t>
            </a:r>
            <a:endParaRPr lang="en-US" sz="1425" dirty="0"/>
          </a:p>
        </p:txBody>
      </p:sp>
      <p:pic>
        <p:nvPicPr>
          <p:cNvPr id="10" name="Image 0" descr="/tmp/html2pptx-VeLsvj/html2pptx-bg-1777490016538-114798960a9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Практический пример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Описание архитектуры условной АС «Личный кабинет застройщика»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Структура документа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«Описание архитектуры»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системы ЛКЗ включает следующие основные разделы: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Назначение и цели системы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249388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Автоматизация процесса взаимодействия застройщиков с ДОМ.РФ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Подача проектных деклараций в электронном виде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Мониторинг статуса рассмотрения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Прикладная архитектура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456682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Модуль регистрации и аутентификации (через ЕСИА)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Модуль работы с декларациями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Модуль интеграции с ЕИСЖС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Модуль уведомлений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625876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Технологический стек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4937224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Backend: Java 11, Spring Boot, PostgreSQL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Frontend: React, TypeScript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Контейнеризация: Docker, Kubernetes</a:t>
            </a:r>
            <a:endParaRPr lang="en-US" sz="1425" dirty="0"/>
          </a:p>
        </p:txBody>
      </p:sp>
      <p:pic>
        <p:nvPicPr>
          <p:cNvPr id="13" name="Image 0" descr="/tmp/html2pptx-WUX2nW/html2pptx-bg-1777490016928-41f4bff9e7d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Практический пример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98286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Интеграционный контур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1294209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ЕСИА — аутентификация пользователей (OAuth 2.0)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ЕИСЖС — передача деклараций (REST API)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СМЭВ — получение сведений из внешних систем (SOAP)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Email/SMS шлюз — уведомления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2463403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Инфраструктура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774752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кластер в ЦОД ДОМ.РФ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инстанса приложения для балансировки нагрузки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PostgreSQL в режиме master-slave репликации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Система мониторинга: Prometheus + Grafana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394394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6. Масштабируемость и доступность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4255294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SLA: 99.9% (допустимый downtime ~8.7 часов в год)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RTO: 4 часа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RPO: 15 минут (инкрементное резервное копирование)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Автомасштабирование при CPU &gt; 70%</a:t>
            </a:r>
            <a:endParaRPr lang="en-US" sz="1425" dirty="0"/>
          </a:p>
        </p:txBody>
      </p:sp>
      <p:pic>
        <p:nvPicPr>
          <p:cNvPr id="10" name="Image 0" descr="/tmp/html2pptx-PtYxwu/html2pptx-bg-1777490017339-4e95f7abd12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Практический пример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98286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7. Защита информации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1294209"/>
            <a:ext cx="10858500" cy="13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Межсетевой экран на периметре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WAF (Web Application Firewall)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Шифрование трафика (TLS 1.3)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Шифрование персональных данных в БД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Централизованное логирование событий ИБ (SIEM)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2736652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8. Публикация и DNS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Доменное имя: lkz.дом.рф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DNS-записи в корпоративной зоне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SSL-сертификат (Let's Encrypt или корпоративный УЦ)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394394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9. Лицензии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4255294"/>
            <a:ext cx="10858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source: Spring Boot (Apache 2.0), React (MIT), PostgreSQL (PostgreSQL License)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Коммерческие: Red Hat OpenShift (для Kubernetes)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8779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10. Дополнительные разделы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5189339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План развития системы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Риски и меры митигации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Контакты ответственных лиц</a:t>
            </a:r>
            <a:endParaRPr lang="en-US" sz="1425" dirty="0"/>
          </a:p>
        </p:txBody>
      </p:sp>
      <p:pic>
        <p:nvPicPr>
          <p:cNvPr id="12" name="Image 0" descr="/tmp/html2pptx-Jvp7kd/html2pptx-bg-1777490017750-12eedcc882e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Оценка полезности документа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 формальности к бизнес-ценности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Критерии полезности Описания архитектуры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новых сотрудников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38040"/>
            <a:ext cx="57150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Погружение в проект за 1-2 дня вместо 2-3 недель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Понимание «почему» за каждым решением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Минимизация вопросов к команде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833985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текущей команды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145334"/>
            <a:ext cx="5715000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Единая точка истины при принятии решений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конфликтов мнений (обоснование задокументировано)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Упрощение планирования доработок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4276427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руководства и КА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4587776"/>
            <a:ext cx="57150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Прозрачность архитектуры и рисков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Контроль технического долга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Обоснование запросов на ресурсы</a:t>
            </a:r>
            <a:endParaRPr lang="en-US" sz="1425" dirty="0"/>
          </a:p>
        </p:txBody>
      </p:sp>
      <p:pic>
        <p:nvPicPr>
          <p:cNvPr id="12" name="Image 0" descr="/tmp/html2pptx-j83DxY/html2pptx-bg-1777490018138-24abe0758fe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785914"/>
            <a:ext cx="4800600" cy="2059484"/>
          </a:xfrm>
          <a:prstGeom prst="rect">
            <a:avLst/>
          </a:prstGeom>
        </p:spPr>
      </p:pic>
      <p:pic>
        <p:nvPicPr>
          <p:cNvPr id="13" name="Image 1" descr="/tmp/html2pptx-j83DxY/html2pptx-bg-1777490018217-faecbec2c1a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38950" y="2795439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630025" y="2785914"/>
            <a:ext cx="0" cy="2059484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38950" y="4835872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48475" y="2785914"/>
            <a:ext cx="0" cy="2059484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Оценка полезности документа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0114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Измеримые эффекты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13599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времени на онбординг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-70%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67134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Новый разработчик начинает приносить пользу через дни, а не недели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82688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времени на восстановление при инцидентах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-60%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294037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Администратор действует по документированному плану DRP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60538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технического долга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-40%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2916734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Архитектурные решения принимаются осознанно, с учетом существующей структуры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228082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Снижение рисков передачи системы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-80%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353943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Новый оператор получает полную документацию и может поддерживать систему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62000" y="387935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Вывод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62000" y="4227909"/>
            <a:ext cx="110756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Инвестиции в качественное документирование окупаются многократно через снижение рисков и повышение эффективности команды</a:t>
            </a:r>
            <a:endParaRPr lang="en-US" sz="1425" dirty="0"/>
          </a:p>
        </p:txBody>
      </p:sp>
      <p:pic>
        <p:nvPicPr>
          <p:cNvPr id="15" name="Image 0" descr="/tmp/html2pptx-ZlQfxU/html2pptx-bg-1777490018550-fced2b5263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Ключевые выводы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как стратегический актив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Объективность вместо субъективности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задает объективные критерии необходимости и достаточности сведений, исключая «мнение эксперта»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66615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Риск-ориентированный подход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231517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— не бюрократия, а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инструмент управления рисками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технических, организационных, внешних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65509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Описание архитектуры — точка конвергенции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2000" y="3003649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Единый документ объединяет все аспекты системы: от бизнес-логики до инфраструктуры и ИБ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343573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Практическая польза каждого документа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3692128"/>
            <a:ext cx="10858500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ЭП/ТП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Новые сотрудники понимают логику за день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РД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Администраторы восстанавливают систему в RTO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ОА</a:t>
            </a:r>
            <a:pPr algn="l" indent="0" marL="0">
              <a:lnSpc>
                <a:spcPts val="1852"/>
              </a:lnSpc>
              <a:spcAft>
                <a:spcPts val="300"/>
              </a:spcAft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Команда принимает решения на основе фактов, а не догадок</a:t>
            </a:r>
            <a:endParaRPr lang="en-US" sz="1425" dirty="0"/>
          </a:p>
        </p:txBody>
      </p:sp>
      <p:pic>
        <p:nvPicPr>
          <p:cNvPr id="13" name="Image 0" descr="/tmp/html2pptx-hHpTEq/html2pptx-bg-1777490018916-29a9badcf48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Ключевые выводы (продолжение)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011436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Жизненный цикл документации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135999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—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живой артефакт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требующий непрерывной актуализации по мере развития системы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699915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6. Безопасность встроена в архитектуру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048470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Документация по защите информации —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неотъемлемая часть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Описания архитектуры, а не «дополнение для проверок»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388394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7. Измеримый эффект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2000" y="2736949"/>
            <a:ext cx="110756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Качественная документация дает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измеримые результаты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: снижение времени онбординга, восстановления, технического долга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312021"/>
            <a:ext cx="1107567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Призыв к действию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3660577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Инвестируйте в документацию как в стратегический актив, а не как в формальную обязанность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3971925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стандартов ГОСТ — это не сложно, это </a:t>
            </a:r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осознанный выбор</a:t>
            </a:r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в пользу устойчивости и развития системы</a:t>
            </a:r>
            <a:endParaRPr lang="en-US" sz="1425" dirty="0"/>
          </a:p>
        </p:txBody>
      </p:sp>
      <p:pic>
        <p:nvPicPr>
          <p:cNvPr id="13" name="Image 0" descr="/tmp/html2pptx-3kEYFI/html2pptx-bg-1777490019249-3b0b4c3e2c2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Дискуссия и следующие шаги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Обсуждение применимости подхода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78136"/>
            <a:ext cx="582930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225"/>
              </a:spcBef>
              <a:buNone/>
            </a:pPr>
            <a:r>
              <a:rPr lang="en-US" sz="165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Вопросы для обсуждения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626691"/>
            <a:ext cx="5715000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</a:t>
            </a:r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Применимость к ЕИСЖС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1995190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Какие разделы Описания архитектуры наиболее актуальны для нашей системы?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541687"/>
            <a:ext cx="5715000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</a:t>
            </a:r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Приоритизация документов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2910185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каких документов начать? Что даст максимальный эффект в краткосрочной перспективе?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456682"/>
            <a:ext cx="5715000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</a:t>
            </a:r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Процесс актуализации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000" y="3825180"/>
            <a:ext cx="582930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Как встроить актуализацию документации в процесс разработки?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62000" y="4136529"/>
            <a:ext cx="5715000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</a:t>
            </a:r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Ответственность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62000" y="4505027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Кто отвечает за поддержание документов в актуальном состоянии?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62000" y="5051524"/>
            <a:ext cx="5715000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</a:t>
            </a:r>
            <a:pPr algn="l" indent="0" marL="0">
              <a:lnSpc>
                <a:spcPts val="1852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Инструменты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62000" y="5420023"/>
            <a:ext cx="582930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Wiki, Confluence, Git — какие инструменты использовать для управления документацией?</a:t>
            </a:r>
            <a:endParaRPr lang="en-US" sz="1425" dirty="0"/>
          </a:p>
        </p:txBody>
      </p:sp>
      <p:pic>
        <p:nvPicPr>
          <p:cNvPr id="16" name="Image 0" descr="/tmp/html2pptx-ACaOT4/html2pptx-bg-1777490019602-c3913eb778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0" y="2215753"/>
            <a:ext cx="4800600" cy="3199656"/>
          </a:xfrm>
          <a:prstGeom prst="rect">
            <a:avLst/>
          </a:prstGeom>
        </p:spPr>
      </p:pic>
      <p:pic>
        <p:nvPicPr>
          <p:cNvPr id="17" name="Image 1" descr="/tmp/html2pptx-ACaOT4/html2pptx-bg-1777490019683-639fc28b323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38950" y="2225278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63002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38950" y="5405884"/>
            <a:ext cx="4800600" cy="0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48475" y="2215753"/>
            <a:ext cx="0" cy="3199656"/>
          </a:xfrm>
          <a:prstGeom prst="line">
            <a:avLst/>
          </a:prstGeom>
          <a:noFill/>
          <a:ln w="19050">
            <a:solidFill>
              <a:srgbClr val="EAEAEA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8BC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0756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Контакты и ресурсы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839986"/>
            <a:ext cx="1107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C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Нормативные документы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249561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Основные ГОСТы: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2000" y="1560909"/>
            <a:ext cx="10858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34.201—2020 «Виды, комплектность и обозначение документов при создании автоматизированных систем»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Р 59795-2021 «Автоматизированные системы. Требования к содержанию документов»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19.* — серия ЕСПД (Единая система программной документации)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ГОСТ 2.* — серия ЕСКД (Единая система конструкторской документации)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730103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Внутренние документы ДОМ.РФ: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3041452"/>
            <a:ext cx="10858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Методика оценки рисков реализации инновационных проектов АО «ДОМ.РФ»</a:t>
            </a:r>
            <a:endParaRPr lang="en-US" sz="1425" dirty="0"/>
          </a:p>
          <a:p>
            <a:pPr algn="l" marL="190500" indent="-190500">
              <a:lnSpc>
                <a:spcPts val="1852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Методика самооценки рисков и контролей в ЕИСЖС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3664148"/>
            <a:ext cx="11075670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Благодарю за внимание!</a:t>
            </a:r>
            <a:endParaRPr lang="en-US" sz="1425" dirty="0"/>
          </a:p>
        </p:txBody>
      </p:sp>
      <p:pic>
        <p:nvPicPr>
          <p:cNvPr id="10" name="Image 0" descr="/tmp/html2pptx-0V7hf6/html2pptx-bg-1777490020020-e51da95728f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2665" y="6000750"/>
            <a:ext cx="1297335" cy="476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2026-04-29T19:13:40Z</dcterms:created>
  <dcterms:modified xsi:type="dcterms:W3CDTF">2026-04-29T19:13:40Z</dcterms:modified>
</cp:coreProperties>
</file>